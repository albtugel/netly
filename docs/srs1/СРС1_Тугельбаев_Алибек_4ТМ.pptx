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ведение" id="{d01bc1f9-7a9c-d706-799c-a26aab7f4a87}">
          <p14:sldIdLst>
            <p14:sldId id="256"/>
            <p14:sldId id="257"/>
            <p14:sldId id="258"/>
            <p14:sldId id="259"/>
          </p14:sldIdLst>
        </p14:section>
        <p14:section name="Архитектура" id="{d8d3ba4b-c4b7-c4b3-30e6-0cb89bccbeaa}">
          <p14:sldIdLst>
            <p14:sldId id="260"/>
            <p14:sldId id="261"/>
            <p14:sldId id="262"/>
          </p14:sldIdLst>
        </p14:section>
        <p14:section name="Модель данных" id="{dbf0a404-472c-74e0-76dc-24f4c16eed5d}">
          <p14:sldIdLst>
            <p14:sldId id="263"/>
            <p14:sldId id="264"/>
            <p14:sldId id="265"/>
          </p14:sldIdLst>
        </p14:section>
        <p14:section name="API" id="{206bece9-52cb-ed52-32ac-9f87ad68c9c6}">
          <p14:sldIdLst>
            <p14:sldId id="266"/>
            <p14:sldId id="267"/>
            <p14:sldId id="268"/>
            <p14:sldId id="269"/>
          </p14:sldIdLst>
        </p14:section>
        <p14:section name="Безопасность" id="{814a1b63-d9a5-613a-1804-ffeb42557b08}">
          <p14:sldIdLst>
            <p14:sldId id="270"/>
            <p14:sldId id="271"/>
            <p14:sldId id="272"/>
            <p14:sldId id="273"/>
          </p14:sldIdLst>
        </p14:section>
        <p14:section name="Итоги" id="{c6d49c46-4952-6899-ebf1-5093e5b08b5a}">
          <p14:sldIdLst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Меня зовут Алибек Тугельбаев, группа 4ТМ. Тема — Netly, серверная часть сервиса планирования личного бюджета. Покажу, как результаты практических работ 1–4 складываются в один проект: от бизнес-задачи до защиты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Пользователи — студенты и начинающие специалисты, у которых доход из нескольких источников и несколько подписок. Банковское приложение показывает, что уже потрачено, но не отвечает, сколько можно тратить и откладывать в этом месяце. Netly приводит все суммы к месячному эквиваленту и считает свободный остаток. Измеримая польза: остаток и взнос по каждой цели получаются одним запросом, вместо ручной таблицы раз в месяц.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Требования записаны шестью пользовательскими историями, они покрывают путь от входа до сводки. На сервере уже реализованы три: подписки и долги, накопительные цели и вход по паролю. Ввод доходов, расходов и сводка — в плане на ПР 5–7, потому что им нужны доходы в Profile 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Для двух историй критерии приёмки записаны в формате Given–When–Then, и каждый критерий — автотест. Подписка Netflix за 119.88 в год даёт monthlyCost 9.99. Неверный пароль и несуществующий email дают одинаковый ответ 401, чтобы по ответу нельзя было узнать, зарегистрирован ли адрес.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Сравнивал Swift, Node.js с Express и Python с FastAPI. Решающие критерии — один язык с iOS-клиентом, это общие Codable-модели, и строгая типизация при компиляции. Внутри Swift два фреймворка: Vapor для Profile Service, где связанные данные и аутентификация, и минималистичный Hummingbird для Budget Service, где плоская модель и расчёты. Это тот же выбор, что Django против Flask в Python.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Система из двух сервисов, у каждого своя база. Клиент получает JWT в Profile Service и с ним идёт в Budget Service. Проследим POST /goals. Первый слой, middleware, проверяет подпись токена и достаёт user_id, иначе 401. Контроллер декодирует JSON и валидирует поля, иначе 422. Бизнес-логика считает ежемесячный взнос. Репозиторий выполняет параметризованный INSERT с user_id. Строка из базы возвращается как 201 с заголовком Location. Ошибку на любом слое ловит внешний ProblemErrorMiddleware и отдаёт в едином формате.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Репозиторий — монорепозиторий: документация и контракты в docs, сервисы в services, у каждого свои Sources и Tests. Всё, что меняется между средами — адрес базы, пароль, секрет JWT, порт, — вынесено в переменные окружения. Файл .env в .gitignore, в репозитории только .env.example. Если переменной нет или секрет короче 32 байт, сервис не стартует, а не падает на первом запросе.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ER-диаграмма. В базе бюджета четыре таблицы: подписки, долги, цели и пополнения целей. Пополнения связаны с целью внешним ключом один-ко-многим с каскадным удалением. Таблица users живёт в другой базе, у Profile Service. Внешний ключ между базами невозможен, поэтому user_id — логическая ссылка: значение берётся из подписанного токена, а не из тела запроса.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Схема создаётся только миграциями, их три, и каждая откатывается. Вторая миграция показывает эволюцию схемы: индекс под фильтр целей по статусу добавлен отдельно, после первой версии. Каждый индекс отвечает на конкретный запрос. Составной индекс по user_id, status и created_at отдаёт страницу активных целей прямо из индекса, без сортировки. Уникальный индекс по email ускоряет вход.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Пример транзакции — пополнение цели. В одной транзакции вставляется пополнение и увеличивается накопленная сумма цели. Если сумма превысит целевую, срабатывает CHECK в базе, транзакция откатывается целиком, и клиент получает 422. Проверка именно в базе, а не чтением перед записью, поэтому два параллельных пополнения не обойдут ограничение. Справа — остальные ограничения: NOT NULL, CHECK, NUMERIC для денег, внешний ключ и уникальность.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Контракт REST. Ресурсы — существительные во множественном числе под /api/v1, действие задаётся методом. Пополнения вложены в цель, потому что без цели не существуют. Подписки и долги повторяют ту же пятёрку операций. Всего 18 операций в Budget Service и 5 в Profile 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Контракт описан формально в OpenAPI 3.1, для каждого сервиса свой файл. У каждой операции перечислены все коды ответа, примеры взяты из реальных ответов. Файлы проверяются линтером Redocly без ошибок. На слайде операция пополнения цели: 201, 404 для чужой или несуществующей цели и 422.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Валидация идёт в два этапа: сначала декодирование JSON, затем бизнес-правила, причём ошибки всех полей возвращаются разом. Формат ошибок единый для обоих сервисов — RFC 9457 problem+json: машинный code, понятный человеку detail и массив errors по полям. 400 — тело не JSON, 422 — JSON корректный, но нарушены правила, 409 — дубликат.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Списки отдаются страницами. limit от 1 до 100, по умолчанию 50; offset от нуля. Для целей есть фильтр status. Порядок стабильный, по created_at и id, поэтому страницы не перекрываются. total позволяет клиенту построить навигацию. Значение вне диапазона — 422.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Регистрация: email и пароль проверяются, пароль хешируется bcrypt с cost 12 в пуле потоков, чтобы не блокировать event loop. В базе хранится только хеш с солью. Вход: хеш сверяется, Profile Service подписывает JWT алгоритмом HS256. В токене sub — id пользователя, role, время выдачи и срок действия — 15 минут. Budget Service проверяет подпись тем же секретом, не обращаясь к Profile 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Матрица доступа. Гость может только зарегистрироваться и войти. user и admin работают только со своими записями бюджета; чужая запись отвечает 404, чтобы не раскрывать само её существование. Список пользователей — только admin, user получает 403. Проверка на двух уровнях: middleware на группе маршрутов, до контроллера, поэтому новый эндпоинт нельзя забыть защитить; и условие user_id в каждом SQL-запросе.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Пять угроз из OWASP API Security Top 10 2023. BOLA — доступ к чужому объекту по id: закрыт фильтром user_id. Слабая аутентификация: bcrypt, короткий срок токена, длинный секрет. Mass assignment: роль и user_id из тела игнорируются. Неограниченное потребление ресурсов: limit не больше 100. BFLA — вызов чужой функции: RoleGuard. Для каждой меры есть автотест, его имя в правой колонке.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реальные ответы сервисов, снятые скриптом scripts/demo-auth.sh. Цель создана с токеном из Profile Service — 201. Некорректное тело — 422 со списком всех ошибок. Обычный пользователь на /admin/users — 403. Чужая цель — 404. Могу показать то же вживую.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 1–4 выполнены: 23 операций API, 73 автотестов, 3 миграции. До СРС 2 — доходы и расходы в Profile Service, расчёт свободного остатка с распределением по целям и Spending Service. Риски: Budget будет синхронно зависеть от Profile при расчёте остатка; нет ограничения частоты попыток входа и отзыва токена до истечения срока — это в плане.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Итог: проект — одно целое, каждая история доведена до кода и теста. Спасибо, готов ответить на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Netly · СРС № 1 · Тугельбаев А.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4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4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4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lbtugel/Netly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bg2"/>
                </a:solidFill>
              </a:rPr>
              <a:t>Казахстанско-Немецкий университет. Факультет инжиниринга и информационных технологий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4173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4000" b="1" dirty="0">
                <a:solidFill>
                  <a:schemeClr val="bg1"/>
                </a:solidFill>
              </a:rPr>
              <a:t>Netly — серверная часть сервиса планирования личного бюджета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26974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chemeClr val="accent3"/>
                </a:solidFill>
              </a:rPr>
              <a:t>Самостоятельная работа студента № 1. Результаты практических работ № 1–4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6576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accent3"/>
                </a:solidFill>
              </a:rPr>
              <a:t>Дисциплина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2926080" y="365760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Проектирование и разработка серверной части приложений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42062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accent3"/>
                </a:solidFill>
              </a:rPr>
              <a:t>Исполнитель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2926080" y="420624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Тугельбаев Алибек; 6B06105 «Телематика»; группа 4ТМ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47548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accent3"/>
                </a:solidFill>
              </a:rPr>
              <a:t>Преподаватель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2926080" y="475488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Самат И. М., магистр технических наук, старший преподаватель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59893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bg2"/>
                </a:solidFill>
              </a:rPr>
              <a:t>Алматы, 28 октября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Netly отвечает, сколько денег свободно в этом месяце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17320"/>
            <a:ext cx="3520440" cy="3246120"/>
          </a:xfrm>
          <a:prstGeom prst="roundRect">
            <a:avLst>
              <a:gd name="adj" fmla="val 2254"/>
            </a:avLst>
          </a:prstGeom>
          <a:solidFill>
            <a:schemeClr val="bg2"/>
          </a:solidFill>
          <a:ln/>
        </p:spPr>
        <p:txBody>
          <a:bodyPr wrap="square" lIns="101600" tIns="152400" rIns="152400" bIns="101600" rtlCol="0" anchor="t"/>
          <a:lstStyle/>
          <a:p>
            <a:pPr algn="l" indent="0" marL="0">
              <a:spcAft>
                <a:spcPts val="400"/>
              </a:spcAft>
              <a:buNone/>
            </a:pP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6459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1371600" y="16459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accent1"/>
                </a:solidFill>
              </a:rPr>
              <a:t>Кто пользователи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286000"/>
            <a:ext cx="3063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Студенты и начинающие специалисты</a:t>
            </a:r>
            <a:endParaRPr lang="en-US" sz="1800" dirty="0"/>
          </a:p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Доход из 2–4 источников</a:t>
            </a:r>
            <a:endParaRPr lang="en-US" sz="1800" dirty="0"/>
          </a:p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Несколько платных подписок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4297680" y="1417320"/>
            <a:ext cx="3520440" cy="3246120"/>
          </a:xfrm>
          <a:prstGeom prst="roundRect">
            <a:avLst>
              <a:gd name="adj" fmla="val 2254"/>
            </a:avLst>
          </a:prstGeom>
          <a:solidFill>
            <a:schemeClr val="bg2"/>
          </a:solidFill>
          <a:ln/>
        </p:spPr>
        <p:txBody>
          <a:bodyPr wrap="square" lIns="101600" tIns="152400" rIns="152400" bIns="101600" rtlCol="0" anchor="t"/>
          <a:lstStyle/>
          <a:p>
            <a:pPr algn="l" indent="0" marL="0">
              <a:spcAft>
                <a:spcPts val="400"/>
              </a:spcAft>
              <a:buNone/>
            </a:pP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4572000" y="16459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5120640" y="16459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accent1"/>
                </a:solidFill>
              </a:rPr>
              <a:t>Проблема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4572000" y="2286000"/>
            <a:ext cx="3063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Банк показывает траты постфактум</a:t>
            </a:r>
            <a:endParaRPr lang="en-US" sz="1800" dirty="0"/>
          </a:p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Доход и подписки в разных циклах</a:t>
            </a:r>
            <a:endParaRPr lang="en-US" sz="1800" dirty="0"/>
          </a:p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Неясно, сколько можно тратить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8046720" y="1417320"/>
            <a:ext cx="3520440" cy="3246120"/>
          </a:xfrm>
          <a:prstGeom prst="roundRect">
            <a:avLst>
              <a:gd name="adj" fmla="val 2254"/>
            </a:avLst>
          </a:prstGeom>
          <a:solidFill>
            <a:schemeClr val="bg2"/>
          </a:solidFill>
          <a:ln/>
        </p:spPr>
        <p:txBody>
          <a:bodyPr wrap="square" lIns="101600" tIns="152400" rIns="152400" bIns="101600" rtlCol="0" anchor="t"/>
          <a:lstStyle/>
          <a:p>
            <a:pPr algn="l" indent="0" marL="0">
              <a:spcAft>
                <a:spcPts val="400"/>
              </a:spcAft>
              <a:buNone/>
            </a:pP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8321040" y="164592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8869680" y="16459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accent1"/>
                </a:solidFill>
              </a:rPr>
              <a:t>Польза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8321040" y="2286000"/>
            <a:ext cx="3063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Данные вводятся один раз</a:t>
            </a:r>
            <a:endParaRPr lang="en-US" sz="1800" dirty="0"/>
          </a:p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Всё в месячном эквиваленте</a:t>
            </a:r>
            <a:endParaRPr lang="en-US" sz="1800" dirty="0"/>
          </a:p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Сроки — за 7 дней до списания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4892040"/>
            <a:ext cx="11064240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15875">
            <a:solidFill>
              <a:srgbClr val="2A9D8F"/>
            </a:solidFill>
          </a:ln>
        </p:spPr>
        <p:txBody>
          <a:bodyPr wrap="square" lIns="101600" tIns="152400" rIns="152400" bIns="1016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accent1"/>
                </a:solidFill>
              </a:rPr>
              <a:t>Измеримо: </a:t>
            </a:r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свободный остаток и взнос по каждой цели — одним запросом, вместо ручной таблицы раз в месяц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4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Шесть историй покрывают путь от входа до сводки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3017520"/>
                <a:gridCol w="3840480"/>
                <a:gridCol w="32918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№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Как …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я хочу …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чтобы …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US-1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пользователь с подработками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вводить доход в привычных единицах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видеть месячный эквивалент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US-2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пользователь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указать или пропустить расходы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остаток был реалистичным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US-3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владелец подписок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вести подписки и долги со сроками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их цена вошла в бюджет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US-4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копящий пользователь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создавать цели и пополнять их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знать ежемесячный взнос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US-5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пользователь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видеть сводку и ближайшие сроки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не считать вручную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US-6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пользователь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входить по email и паролю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мои данные видел только я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accent4"/>
                </a:solidFill>
              </a:rPr>
              <a:t>Реализованы на сервере: US-3, US-4, US-6. US-1, US-2, US-5 — после ПР № 5–7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4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Критерии приёмки двух историй проверяются автотестами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17320"/>
            <a:ext cx="5440680" cy="4206240"/>
          </a:xfrm>
          <a:prstGeom prst="roundRect">
            <a:avLst>
              <a:gd name="adj" fmla="val 1739"/>
            </a:avLst>
          </a:prstGeom>
          <a:solidFill>
            <a:schemeClr val="bg2"/>
          </a:solidFill>
          <a:ln/>
        </p:spPr>
        <p:txBody>
          <a:bodyPr wrap="square" lIns="101600" tIns="152400" rIns="152400" bIns="101600" rtlCol="0" anchor="t"/>
          <a:lstStyle/>
          <a:p>
            <a:pPr algn="l" indent="0" marL="0">
              <a:spcAft>
                <a:spcPts val="400"/>
              </a:spcAft>
              <a:buNone/>
            </a:pP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6002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accent1"/>
                </a:solidFill>
              </a:rPr>
              <a:t>US-3. Подписка в месячном эквиваленте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331720"/>
            <a:ext cx="1005840" cy="384048"/>
          </a:xfrm>
          <a:prstGeom prst="roundRect">
            <a:avLst>
              <a:gd name="adj" fmla="val 2381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Given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2011680" y="228600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подписка Netflix стоит 119.88 в год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246120"/>
            <a:ext cx="1005840" cy="384048"/>
          </a:xfrm>
          <a:prstGeom prst="roundRect">
            <a:avLst>
              <a:gd name="adj" fmla="val 2381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When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2011680" y="320040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/api/v1/subscriptions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4160520"/>
            <a:ext cx="1005840" cy="384048"/>
          </a:xfrm>
          <a:prstGeom prst="roundRect">
            <a:avLst>
              <a:gd name="adj" fmla="val 2381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Then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2011680" y="411480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201 Created и monthlyCost = 9.99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50749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Тест: </a:t>
            </a:r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SubscriptionsAPITests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6172200" y="1417320"/>
            <a:ext cx="5440680" cy="4206240"/>
          </a:xfrm>
          <a:prstGeom prst="roundRect">
            <a:avLst>
              <a:gd name="adj" fmla="val 1739"/>
            </a:avLst>
          </a:prstGeom>
          <a:solidFill>
            <a:schemeClr val="bg2"/>
          </a:solidFill>
          <a:ln/>
        </p:spPr>
        <p:txBody>
          <a:bodyPr wrap="square" lIns="101600" tIns="152400" rIns="152400" bIns="101600" rtlCol="0" anchor="t"/>
          <a:lstStyle/>
          <a:p>
            <a:pPr algn="l" indent="0" marL="0">
              <a:spcAft>
                <a:spcPts val="400"/>
              </a:spcAft>
              <a:buNone/>
            </a:pP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16002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accent1"/>
                </a:solidFill>
              </a:rPr>
              <a:t>US-6. Вход только по верному паролю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6446520" y="2331720"/>
            <a:ext cx="1005840" cy="384048"/>
          </a:xfrm>
          <a:prstGeom prst="roundRect">
            <a:avLst>
              <a:gd name="adj" fmla="val 2381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Given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7635240" y="228600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есть аккаунт alibek@netly.kz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3246120"/>
            <a:ext cx="1005840" cy="384048"/>
          </a:xfrm>
          <a:prstGeom prst="roundRect">
            <a:avLst>
              <a:gd name="adj" fmla="val 2381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When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635240" y="320040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вход с неверным паролем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6446520" y="4160520"/>
            <a:ext cx="1005840" cy="384048"/>
          </a:xfrm>
          <a:prstGeom prst="roundRect">
            <a:avLst>
              <a:gd name="adj" fmla="val 2381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Then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7635240" y="411480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401, тот же ответ, что для чужого email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6446520" y="50749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Тест: </a:t>
            </a:r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AccountTests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accent4"/>
                </a:solidFill>
              </a:rPr>
              <a:t>Всего 73 автотестов в двух сервисах, все проходят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4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Swift на сервере: один язык с iOS-клиентом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291840"/>
                <a:gridCol w="2514600"/>
                <a:gridCol w="251460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Критерий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Swift: Vapor / Hummingbird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Node.js + Express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Python + FastAPI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Язык iOS-клиента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</a:rPr>
                        <a:t>да, общие Codable-модели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нет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нет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Типы при компиляции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</a:rPr>
                        <a:t>строгие, Swift 6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только с TypeScript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подсказки типов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Асинхронность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</a:rPr>
                        <a:t>async/await на SwiftNIO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event loop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asyncio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ORM, JWT, миграции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Fluent, JWTKit, migrations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Prisma, jsonwebtoken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SQLAlchemy, Alembic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Мой опыт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</a:rPr>
                        <a:t>пишу iOS на Swift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базовый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базовый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466344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  <p:txBody>
          <a:bodyPr wrap="square" lIns="101600" tIns="152400" rIns="152400" bIns="10160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accent1"/>
                </a:solidFill>
              </a:rPr>
              <a:t>Profile Service → Vapor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связанные данные, вход, ORM Fluent и JWT из коробки</a:t>
            </a:r>
            <a:endParaRPr lang="en-US" sz="1800" dirty="0"/>
          </a:p>
        </p:txBody>
      </p:sp>
      <p:sp>
        <p:nvSpPr>
          <p:cNvPr id="6" name="Text 2"/>
          <p:cNvSpPr txBox="1"/>
          <p:nvPr/>
        </p:nvSpPr>
        <p:spPr>
          <a:xfrm>
            <a:off x="6172200" y="466344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  <p:txBody>
          <a:bodyPr wrap="square" lIns="101600" tIns="152400" rIns="152400" bIns="10160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accent1"/>
                </a:solidFill>
              </a:rPr>
              <a:t>Budget Service → Hummingbird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плоская модель и расчёты, минимум зависимостей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4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Запрос проходит четыре слоя до базы данных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371600"/>
            <a:ext cx="274320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5875">
            <a:solidFill>
              <a:srgbClr val="52606D"/>
            </a:solidFill>
          </a:ln>
        </p:spPr>
        <p:txBody>
          <a:bodyPr wrap="square" lIns="101600" tIns="152400" rIns="152400" bIns="10160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iOS-клиент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SwiftUI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971800"/>
            <a:ext cx="2743200" cy="2514600"/>
          </a:xfrm>
          <a:prstGeom prst="roundRect">
            <a:avLst>
              <a:gd name="adj" fmla="val 2909"/>
            </a:avLst>
          </a:prstGeom>
          <a:solidFill>
            <a:schemeClr val="bg1"/>
          </a:solidFill>
          <a:ln w="19050">
            <a:solidFill>
              <a:srgbClr val="2A9D8F"/>
            </a:solidFill>
          </a:ln>
        </p:spPr>
        <p:txBody>
          <a:bodyPr wrap="square" lIns="101600" tIns="152400" rIns="152400" bIns="10160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Profile Service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Vapor · :8081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AccessTokenAuthenticator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RoleGuard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Auth/User/AdminController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Fluent → netly_profile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1920240" y="2240280"/>
            <a:ext cx="914" cy="731520"/>
          </a:xfrm>
          <a:prstGeom prst="line">
            <a:avLst/>
          </a:prstGeom>
          <a:noFill/>
          <a:ln w="25400">
            <a:solidFill>
              <a:srgbClr val="2A9D8F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2057400" y="239572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accent2"/>
                </a:solidFill>
              </a:rPr>
              <a:t>логин → JWT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291840" y="1801368"/>
            <a:ext cx="411480" cy="914"/>
          </a:xfrm>
          <a:prstGeom prst="line">
            <a:avLst/>
          </a:prstGeom>
          <a:noFill/>
          <a:ln w="25400">
            <a:solidFill>
              <a:srgbClr val="52606D"/>
            </a:solidFill>
            <a:prstDash val="solid"/>
            <a:tailEnd type="triangle"/>
          </a:ln>
        </p:spPr>
      </p:sp>
      <p:sp>
        <p:nvSpPr>
          <p:cNvPr id="9" name="Text 6"/>
          <p:cNvSpPr txBox="1"/>
          <p:nvPr/>
        </p:nvSpPr>
        <p:spPr>
          <a:xfrm>
            <a:off x="3703320" y="1325880"/>
            <a:ext cx="4526280" cy="4160520"/>
          </a:xfrm>
          <a:prstGeom prst="roundRect">
            <a:avLst>
              <a:gd name="adj" fmla="val 1758"/>
            </a:avLst>
          </a:prstGeom>
          <a:solidFill>
            <a:schemeClr val="bg1"/>
          </a:solidFill>
          <a:ln w="19050">
            <a:solidFill>
              <a:srgbClr val="0E4D45"/>
            </a:solidFill>
          </a:ln>
        </p:spPr>
        <p:txBody>
          <a:bodyPr wrap="square" lIns="101600" tIns="152400" rIns="152400" bIns="101600" rtlCol="0" anchor="t"/>
          <a:lstStyle/>
          <a:p>
            <a:pPr algn="l" indent="0" marL="0">
              <a:spcAft>
                <a:spcPts val="400"/>
              </a:spcAft>
              <a:buNone/>
            </a:pP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3886200" y="13898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Budget Service · Hummingbird · :8082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4389120" y="1828800"/>
            <a:ext cx="365760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  <p:txBody>
          <a:bodyPr wrap="square" lIns="38100" tIns="101600" rIns="101600" bIns="381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Маршруты + middleware</a:t>
            </a:r>
            <a:endParaRPr lang="en-US" sz="16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JWTAuthenticator, ProblemErrorMiddleware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886200" y="202082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4389120" y="2743200"/>
            <a:ext cx="365760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  <p:txBody>
          <a:bodyPr wrap="square" lIns="38100" tIns="101600" rIns="101600" bIns="381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Контроллер, валидация</a:t>
            </a:r>
            <a:endParaRPr lang="en-US" sz="16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ResourceController, Validator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3886200" y="293522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389120" y="3657600"/>
            <a:ext cx="365760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  <p:txBody>
          <a:bodyPr wrap="square" lIns="38100" tIns="101600" rIns="101600" bIns="381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Бизнес-логика</a:t>
            </a:r>
            <a:endParaRPr lang="en-US" sz="16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MonthlyEquivalent, правила полей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886200" y="384962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389120" y="4572000"/>
            <a:ext cx="365760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  <p:txBody>
          <a:bodyPr wrap="square" lIns="38100" tIns="101600" rIns="101600" bIns="381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Доступ к данным</a:t>
            </a:r>
            <a:endParaRPr lang="en-US" sz="16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PostgresRecordRepository (SQL)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3886200" y="476402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4846320" y="5577840"/>
            <a:ext cx="2743200" cy="713232"/>
          </a:xfrm>
          <a:prstGeom prst="can">
            <a:avLst/>
          </a:prstGeom>
          <a:solidFill>
            <a:schemeClr val="bg2"/>
          </a:solidFill>
          <a:ln w="15875">
            <a:solidFill>
              <a:srgbClr val="0E4D4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PostgreSQL </a:t>
            </a:r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netly_budget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4297680" y="5742432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5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6217920" y="5486400"/>
            <a:ext cx="914" cy="91440"/>
          </a:xfrm>
          <a:prstGeom prst="line">
            <a:avLst/>
          </a:prstGeom>
          <a:noFill/>
          <a:ln w="19050">
            <a:solidFill>
              <a:srgbClr val="52606D"/>
            </a:solidFill>
            <a:prstDash val="solid"/>
            <a:tailEnd type="triangle"/>
          </a:ln>
        </p:spPr>
      </p:sp>
      <p:sp>
        <p:nvSpPr>
          <p:cNvPr id="22" name="Text 19"/>
          <p:cNvSpPr txBox="1"/>
          <p:nvPr/>
        </p:nvSpPr>
        <p:spPr>
          <a:xfrm>
            <a:off x="8503920" y="1325880"/>
            <a:ext cx="3108960" cy="416052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/>
        </p:spPr>
        <p:txBody>
          <a:bodyPr wrap="square" lIns="101600" tIns="152400" rIns="152400" bIns="1016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/api/v1/goals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1  токен → user_id, иначе 401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2  JSON → поля, иначе 422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3  расчёт месячного взноса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4  INSERT … с user_id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5  строка из БД → 201 + Location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8503920" y="56235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Profile ← Budget: запрос дохода — план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4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Секреты и адреса БД — только в переменных окружения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371600"/>
            <a:ext cx="5852160" cy="4343400"/>
          </a:xfrm>
          <a:prstGeom prst="roundRect">
            <a:avLst>
              <a:gd name="adj" fmla="val 1263"/>
            </a:avLst>
          </a:prstGeom>
          <a:solidFill>
            <a:schemeClr val="tx1"/>
          </a:solidFill>
          <a:ln/>
        </p:spPr>
        <p:txBody>
          <a:bodyPr wrap="square" lIns="127000" tIns="177800" rIns="177800" bIns="1270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netly/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docs/api/      OpenAPI-контракты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scripts/       demo, dev-token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services/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profile-service/   Vapor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│   └── Sources/App/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budget-service/    Hummingbird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    ├── Sources/App/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    └── Tests/AppTests/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.env.example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docker-compose.yml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6629400" y="1371600"/>
            <a:ext cx="4983480" cy="2697480"/>
          </a:xfrm>
          <a:prstGeom prst="roundRect">
            <a:avLst>
              <a:gd name="adj" fmla="val 2034"/>
            </a:avLst>
          </a:prstGeom>
          <a:solidFill>
            <a:schemeClr val="tx1"/>
          </a:solidFill>
          <a:ln/>
        </p:spPr>
        <p:txBody>
          <a:bodyPr wrap="square" lIns="127000" tIns="177800" rIns="177800" bIns="1270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.env.example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DB_HOST=localhost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DB_PORT=5432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DB_NAME=netly_budget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DB_USER=netly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DB_PASSWORD=netly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JWT_SECRET=</a:t>
            </a:r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&lt;≥ 32 байт&gt;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PORT=8082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629400" y="4251960"/>
            <a:ext cx="4983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.env в .gitignore — пароли не в git</a:t>
            </a:r>
            <a:endParaRPr lang="en-US" sz="1800" dirty="0"/>
          </a:p>
          <a:p>
            <a:pPr algn="l"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Одна сборка для dev и prod</a:t>
            </a:r>
            <a:endParaRPr lang="en-US" sz="1800" dirty="0"/>
          </a:p>
          <a:p>
            <a:pPr algn="l"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Нет DB_* или секрет короче 32 байт — сервис не стартует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4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Внутри базы — FK, между сервисами — user_id из JWT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794760" y="1371600"/>
          <a:ext cx="2514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868680"/>
              </a:tblGrid>
              <a:tr h="256032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users</a:t>
                      </a:r>
                      <a:endParaRPr lang="en-US" sz="16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hMerge="1"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id</a:t>
                      </a: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PK</a:t>
                      </a: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email</a:t>
                      </a: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UK</a:t>
                      </a: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password_hash</a:t>
                      </a: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role</a:t>
                      </a: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created_at</a:t>
                      </a: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2514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868680"/>
              </a:tblGrid>
              <a:tr h="256032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subscriptions</a:t>
                      </a:r>
                      <a:endParaRPr lang="en-US" sz="16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hMerge="1"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id</a:t>
                      </a: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PK</a:t>
                      </a: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user_id</a:t>
                      </a: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→ users</a:t>
                      </a: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name</a:t>
                      </a: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UK*</a:t>
                      </a: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price</a:t>
                      </a: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billing_cycle</a:t>
                      </a: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next_charge_date</a:t>
                      </a: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383280" y="3794760"/>
          <a:ext cx="2514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868680"/>
              </a:tblGrid>
              <a:tr h="256032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debts</a:t>
                      </a:r>
                      <a:endParaRPr lang="en-US" sz="16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hMerge="1"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id</a:t>
                      </a: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PK</a:t>
                      </a: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user_id</a:t>
                      </a: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→ users</a:t>
                      </a: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creditor</a:t>
                      </a: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amount</a:t>
                      </a: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due_date</a:t>
                      </a: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3794760"/>
          <a:ext cx="2514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868680"/>
              </a:tblGrid>
              <a:tr h="256032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goals</a:t>
                      </a:r>
                      <a:endParaRPr lang="en-US" sz="16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hMerge="1"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id</a:t>
                      </a: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PK</a:t>
                      </a: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user_id</a:t>
                      </a: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→ users</a:t>
                      </a: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name</a:t>
                      </a: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target_amount</a:t>
                      </a: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saved_amount</a:t>
                      </a: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target_date</a:t>
                      </a: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priority</a:t>
                      </a: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status</a:t>
                      </a: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281160" y="3794760"/>
          <a:ext cx="23317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868680"/>
              </a:tblGrid>
              <a:tr h="256032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goal_contributions</a:t>
                      </a:r>
                      <a:endParaRPr lang="en-US" sz="16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hMerge="1"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id</a:t>
                      </a: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PK</a:t>
                      </a: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goal_id</a:t>
                      </a: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FK</a:t>
                      </a: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amount</a:t>
                      </a: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note</a:t>
                      </a: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created_at</a:t>
                      </a: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00" dirty="0"/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9" name="Shape 1"/>
          <p:cNvSpPr/>
          <p:nvPr/>
        </p:nvSpPr>
        <p:spPr>
          <a:xfrm flipH="1">
            <a:off x="1805940" y="2907792"/>
            <a:ext cx="3246120" cy="886968"/>
          </a:xfrm>
          <a:prstGeom prst="line">
            <a:avLst/>
          </a:prstGeom>
          <a:noFill/>
          <a:ln w="25400">
            <a:solidFill>
              <a:srgbClr val="2A9D8F"/>
            </a:solidFill>
            <a:prstDash val="dash"/>
          </a:ln>
        </p:spPr>
      </p:sp>
      <p:sp>
        <p:nvSpPr>
          <p:cNvPr id="10" name="Text 2"/>
          <p:cNvSpPr txBox="1"/>
          <p:nvPr/>
        </p:nvSpPr>
        <p:spPr>
          <a:xfrm>
            <a:off x="3154680" y="3214116"/>
            <a:ext cx="548640" cy="27432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1 : N</a:t>
            </a:r>
            <a:endParaRPr lang="en-US" sz="1400" dirty="0"/>
          </a:p>
        </p:txBody>
      </p:sp>
      <p:sp>
        <p:nvSpPr>
          <p:cNvPr id="11" name="Shape 3"/>
          <p:cNvSpPr/>
          <p:nvPr/>
        </p:nvSpPr>
        <p:spPr>
          <a:xfrm flipH="1">
            <a:off x="4640580" y="2907792"/>
            <a:ext cx="411480" cy="886968"/>
          </a:xfrm>
          <a:prstGeom prst="line">
            <a:avLst/>
          </a:prstGeom>
          <a:noFill/>
          <a:ln w="25400">
            <a:solidFill>
              <a:srgbClr val="2A9D8F"/>
            </a:solidFill>
            <a:prstDash val="dash"/>
          </a:ln>
        </p:spPr>
      </p:sp>
      <p:sp>
        <p:nvSpPr>
          <p:cNvPr id="12" name="Text 4"/>
          <p:cNvSpPr txBox="1"/>
          <p:nvPr/>
        </p:nvSpPr>
        <p:spPr>
          <a:xfrm>
            <a:off x="4572000" y="3214116"/>
            <a:ext cx="548640" cy="27432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1 : N</a:t>
            </a:r>
            <a:endParaRPr lang="en-US" sz="1400" dirty="0"/>
          </a:p>
        </p:txBody>
      </p:sp>
      <p:sp>
        <p:nvSpPr>
          <p:cNvPr id="13" name="Shape 5"/>
          <p:cNvSpPr/>
          <p:nvPr/>
        </p:nvSpPr>
        <p:spPr>
          <a:xfrm>
            <a:off x="5052060" y="2907792"/>
            <a:ext cx="2423160" cy="886968"/>
          </a:xfrm>
          <a:prstGeom prst="line">
            <a:avLst/>
          </a:prstGeom>
          <a:noFill/>
          <a:ln w="25400">
            <a:solidFill>
              <a:srgbClr val="2A9D8F"/>
            </a:solidFill>
            <a:prstDash val="dash"/>
          </a:ln>
        </p:spPr>
      </p:sp>
      <p:sp>
        <p:nvSpPr>
          <p:cNvPr id="14" name="Text 6"/>
          <p:cNvSpPr txBox="1"/>
          <p:nvPr/>
        </p:nvSpPr>
        <p:spPr>
          <a:xfrm>
            <a:off x="5989320" y="3214116"/>
            <a:ext cx="548640" cy="27432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1 : N</a:t>
            </a:r>
            <a:endParaRPr lang="en-US" sz="1400" dirty="0"/>
          </a:p>
        </p:txBody>
      </p:sp>
      <p:sp>
        <p:nvSpPr>
          <p:cNvPr id="15" name="Shape 7"/>
          <p:cNvSpPr/>
          <p:nvPr/>
        </p:nvSpPr>
        <p:spPr>
          <a:xfrm>
            <a:off x="8732520" y="3922776"/>
            <a:ext cx="548640" cy="914"/>
          </a:xfrm>
          <a:prstGeom prst="line">
            <a:avLst/>
          </a:prstGeom>
          <a:noFill/>
          <a:ln w="28575">
            <a:solidFill>
              <a:srgbClr val="0E4D45"/>
            </a:solidFill>
            <a:prstDash val="solid"/>
          </a:ln>
        </p:spPr>
      </p:sp>
      <p:sp>
        <p:nvSpPr>
          <p:cNvPr id="16" name="Text 8"/>
          <p:cNvSpPr txBox="1"/>
          <p:nvPr/>
        </p:nvSpPr>
        <p:spPr>
          <a:xfrm>
            <a:off x="8686800" y="357530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1 : N</a:t>
            </a:r>
            <a:endParaRPr lang="en-US" sz="1400" dirty="0"/>
          </a:p>
        </p:txBody>
      </p:sp>
      <p:sp>
        <p:nvSpPr>
          <p:cNvPr id="17" name="Text 9"/>
          <p:cNvSpPr txBox="1"/>
          <p:nvPr/>
        </p:nvSpPr>
        <p:spPr>
          <a:xfrm>
            <a:off x="6812280" y="1325880"/>
            <a:ext cx="480060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/>
        </p:spPr>
        <p:txBody>
          <a:bodyPr wrap="square" lIns="101600" tIns="152400" rIns="152400" bIns="101600" rtlCol="0" anchor="t"/>
          <a:lstStyle/>
          <a:p>
            <a:pPr algn="l" indent="0" marL="0">
              <a:spcAft>
                <a:spcPts val="400"/>
              </a:spcAft>
              <a:buNone/>
            </a:pPr>
            <a:endParaRPr lang="en-US" sz="1800" dirty="0"/>
          </a:p>
        </p:txBody>
      </p:sp>
      <p:sp>
        <p:nvSpPr>
          <p:cNvPr id="18" name="Shape 10"/>
          <p:cNvSpPr/>
          <p:nvPr/>
        </p:nvSpPr>
        <p:spPr>
          <a:xfrm>
            <a:off x="7040880" y="1645920"/>
            <a:ext cx="731520" cy="0"/>
          </a:xfrm>
          <a:prstGeom prst="line">
            <a:avLst/>
          </a:prstGeom>
          <a:noFill/>
          <a:ln w="28575">
            <a:solidFill>
              <a:srgbClr val="0E4D45"/>
            </a:solidFill>
            <a:prstDash val="solid"/>
          </a:ln>
        </p:spPr>
      </p:sp>
      <p:sp>
        <p:nvSpPr>
          <p:cNvPr id="19" name="Text 11"/>
          <p:cNvSpPr txBox="1"/>
          <p:nvPr/>
        </p:nvSpPr>
        <p:spPr>
          <a:xfrm>
            <a:off x="7909560" y="148132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FK, ON DELETE CASCADE</a:t>
            </a:r>
            <a:endParaRPr lang="en-US" sz="1600" dirty="0"/>
          </a:p>
        </p:txBody>
      </p:sp>
      <p:sp>
        <p:nvSpPr>
          <p:cNvPr id="20" name="Shape 12"/>
          <p:cNvSpPr/>
          <p:nvPr/>
        </p:nvSpPr>
        <p:spPr>
          <a:xfrm>
            <a:off x="7040880" y="2148840"/>
            <a:ext cx="731520" cy="0"/>
          </a:xfrm>
          <a:prstGeom prst="line">
            <a:avLst/>
          </a:prstGeom>
          <a:noFill/>
          <a:ln w="25400">
            <a:solidFill>
              <a:srgbClr val="2A9D8F"/>
            </a:solidFill>
            <a:prstDash val="dash"/>
          </a:ln>
        </p:spPr>
      </p:sp>
      <p:sp>
        <p:nvSpPr>
          <p:cNvPr id="21" name="Text 13"/>
          <p:cNvSpPr txBox="1"/>
          <p:nvPr/>
        </p:nvSpPr>
        <p:spPr>
          <a:xfrm>
            <a:off x="7909560" y="198424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логическая связь, без FK</a:t>
            </a:r>
            <a:endParaRPr lang="en-US" sz="1600" dirty="0"/>
          </a:p>
        </p:txBody>
      </p:sp>
      <p:sp>
        <p:nvSpPr>
          <p:cNvPr id="22" name="Text 14"/>
          <p:cNvSpPr txBox="1"/>
          <p:nvPr/>
        </p:nvSpPr>
        <p:spPr>
          <a:xfrm>
            <a:off x="7040880" y="2395728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users — в netly_profile, остальные — в netly_budget. * UNIQUE (user_id, lower(name))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4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Схема растёт миграциями, каждый индекс — под свой запрос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3258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chemeClr val="accent1"/>
                </a:solidFill>
              </a:rPr>
              <a:t>Миграции (откатываются)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828800"/>
            <a:ext cx="3931920" cy="1024128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/>
        </p:spPr>
        <p:txBody>
          <a:bodyPr wrap="square" lIns="101600" tIns="152400" rIns="152400" bIns="1016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budget 001  </a:t>
            </a:r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create_budget_schema</a:t>
            </a:r>
            <a:endParaRPr lang="en-US" sz="16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4 таблицы, CHECK, FK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2514600" y="2852928"/>
            <a:ext cx="914" cy="182880"/>
          </a:xfrm>
          <a:prstGeom prst="line">
            <a:avLst/>
          </a:prstGeom>
          <a:noFill/>
          <a:ln w="19050">
            <a:solidFill>
              <a:srgbClr val="52606D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548640" y="3035808"/>
            <a:ext cx="3931920" cy="1024128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/>
        </p:spPr>
        <p:txBody>
          <a:bodyPr wrap="square" lIns="101600" tIns="152400" rIns="152400" bIns="1016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budget 002  </a:t>
            </a:r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add_goal_status_index</a:t>
            </a:r>
            <a:endParaRPr lang="en-US" sz="16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индекс под фильтр статуса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2514600" y="4059936"/>
            <a:ext cx="914" cy="182880"/>
          </a:xfrm>
          <a:prstGeom prst="line">
            <a:avLst/>
          </a:prstGeom>
          <a:noFill/>
          <a:ln w="19050">
            <a:solidFill>
              <a:srgbClr val="52606D"/>
            </a:solidFill>
            <a:prstDash val="solid"/>
            <a:tailEnd type="triangle"/>
          </a:ln>
        </p:spPr>
      </p:sp>
      <p:sp>
        <p:nvSpPr>
          <p:cNvPr id="9" name="Text 6"/>
          <p:cNvSpPr txBox="1"/>
          <p:nvPr/>
        </p:nvSpPr>
        <p:spPr>
          <a:xfrm>
            <a:off x="548640" y="4242816"/>
            <a:ext cx="3931920" cy="1024128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/>
        </p:spPr>
        <p:txBody>
          <a:bodyPr wrap="square" lIns="101600" tIns="152400" rIns="152400" bIns="1016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profile 001  </a:t>
            </a:r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create_users</a:t>
            </a:r>
            <a:endParaRPr lang="en-US" sz="16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users, UNIQUE email</a:t>
            </a:r>
            <a:endParaRPr lang="en-US" sz="1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371600"/>
          <a:ext cx="676656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283464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Индекс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Ускоряет запрос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goals (user_id, status, created_at, id)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GET /goals?status=active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&lt;таблица&gt; (user_id, created_at, id)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списки с пагинацией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subscriptions (user_id, lower(name))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UNIQUE: дубль → 409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goal_contributions (goal_id, …)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история цели, каскад FK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users (email)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поиск при входе, UNIQUE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4846320" y="516636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accent4"/>
                </a:solidFill>
              </a:rPr>
              <a:t>Порядок сортировки входит в индекс — страница читается без сортировки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4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Пополнение цели атомарно: две записи или ни одной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17320"/>
            <a:ext cx="557784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  <p:txBody>
          <a:bodyPr wrap="square" lIns="101600" tIns="152400" rIns="152400" bIns="1016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3337560" y="2075688"/>
            <a:ext cx="914" cy="210312"/>
          </a:xfrm>
          <a:prstGeom prst="line">
            <a:avLst/>
          </a:prstGeom>
          <a:noFill/>
          <a:ln w="19050">
            <a:solidFill>
              <a:srgbClr val="52606D"/>
            </a:solidFill>
            <a:prstDash val="solid"/>
            <a:tailEnd type="triangle"/>
          </a:ln>
        </p:spPr>
      </p:sp>
      <p:sp>
        <p:nvSpPr>
          <p:cNvPr id="6" name="Text 3"/>
          <p:cNvSpPr txBox="1"/>
          <p:nvPr/>
        </p:nvSpPr>
        <p:spPr>
          <a:xfrm>
            <a:off x="548640" y="2286000"/>
            <a:ext cx="557784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  <p:txBody>
          <a:bodyPr wrap="square" lIns="101600" tIns="152400" rIns="152400" bIns="1016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 INTO goal_contributions …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37560" y="2944368"/>
            <a:ext cx="914" cy="210312"/>
          </a:xfrm>
          <a:prstGeom prst="line">
            <a:avLst/>
          </a:prstGeom>
          <a:noFill/>
          <a:ln w="19050">
            <a:solidFill>
              <a:srgbClr val="52606D"/>
            </a:solidFill>
            <a:prstDash val="solid"/>
            <a:tailEnd type="triangle"/>
          </a:ln>
        </p:spPr>
      </p:sp>
      <p:sp>
        <p:nvSpPr>
          <p:cNvPr id="8" name="Text 5"/>
          <p:cNvSpPr txBox="1"/>
          <p:nvPr/>
        </p:nvSpPr>
        <p:spPr>
          <a:xfrm>
            <a:off x="548640" y="3154680"/>
            <a:ext cx="557784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  <p:txBody>
          <a:bodyPr wrap="square" lIns="101600" tIns="152400" rIns="152400" bIns="1016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 goals SET saved_amount += amount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337560" y="3813048"/>
            <a:ext cx="914" cy="210312"/>
          </a:xfrm>
          <a:prstGeom prst="line">
            <a:avLst/>
          </a:prstGeom>
          <a:noFill/>
          <a:ln w="19050">
            <a:solidFill>
              <a:srgbClr val="52606D"/>
            </a:solidFill>
            <a:prstDash val="solid"/>
            <a:tailEnd type="triangle"/>
          </a:ln>
        </p:spPr>
      </p:sp>
      <p:sp>
        <p:nvSpPr>
          <p:cNvPr id="10" name="Text 7"/>
          <p:cNvSpPr txBox="1"/>
          <p:nvPr/>
        </p:nvSpPr>
        <p:spPr>
          <a:xfrm>
            <a:off x="548640" y="4023360"/>
            <a:ext cx="2697480" cy="1143000"/>
          </a:xfrm>
          <a:prstGeom prst="roundRect">
            <a:avLst>
              <a:gd name="adj" fmla="val 6400"/>
            </a:avLst>
          </a:prstGeom>
          <a:solidFill>
            <a:schemeClr val="accent2"/>
          </a:solidFill>
          <a:ln/>
        </p:spPr>
        <p:txBody>
          <a:bodyPr wrap="square" lIns="101600" tIns="152400" rIns="152400" bIns="10160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COMMIT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201 Created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3429000" y="4023360"/>
            <a:ext cx="2697480" cy="1143000"/>
          </a:xfrm>
          <a:prstGeom prst="roundRect">
            <a:avLst>
              <a:gd name="adj" fmla="val 6400"/>
            </a:avLst>
          </a:prstGeom>
          <a:solidFill>
            <a:schemeClr val="accent3"/>
          </a:solidFill>
          <a:ln/>
        </p:spPr>
        <p:txBody>
          <a:bodyPr wrap="square" lIns="101600" tIns="152400" rIns="152400" bIns="10160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ROLLBACK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422 exceeds_target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303520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CHECK saved_amount ≤ target_amount нарушен — откатывается и INSERT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6583680" y="13716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chemeClr val="accent1"/>
                </a:solidFill>
              </a:rPr>
              <a:t>Ограничения целостности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6583680" y="1920240"/>
            <a:ext cx="50292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NOT NULL</a:t>
            </a:r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 на всех полях, кроме note</a:t>
            </a:r>
            <a:endParaRPr lang="en-US" sz="180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CHECK</a:t>
            </a:r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: суммы &gt; 0, priority 1–10, enum</a:t>
            </a:r>
            <a:endParaRPr lang="en-US" sz="180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NUMERIC(12,2)</a:t>
            </a:r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 для денег, не float</a:t>
            </a:r>
            <a:endParaRPr lang="en-US" sz="180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FK</a:t>
            </a:r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 goal_id → goals, ON DELETE CASCADE</a:t>
            </a:r>
            <a:endParaRPr lang="en-US" sz="180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UNIQUE</a:t>
            </a:r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 email; имя подписки у пользователя</a:t>
            </a:r>
            <a:endParaRPr lang="en-US" sz="180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role IN ('user', 'admin')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4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Ресурс goals: пять CRUD-операций и вложенные пополнения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4709160"/>
                <a:gridCol w="3840480"/>
                <a:gridCol w="11887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Метод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Путь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Назначение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Успех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POST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/api/v1/goals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создать цель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201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/api/v1/goals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список, фильтр status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200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/api/v1/goals/{id}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одна цель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200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PATCH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/api/v1/goals/{id}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частично изменить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200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DELETE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/api/v1/goals/{id}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удалить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204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POST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/api/v1/goals/{id}/contributions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пополнить (транзакция)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201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/api/v1/goals/{id}/contributions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история пополнений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200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5321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accent4"/>
                </a:solidFill>
              </a:rPr>
              <a:t>subscriptions и debts — та же пятёрка. Всего 18 операций в Budget и 5 в Profile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4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Контракт формальный: OpenAPI 3.1, проверен линтером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371600"/>
            <a:ext cx="6675120" cy="4526280"/>
          </a:xfrm>
          <a:prstGeom prst="roundRect">
            <a:avLst>
              <a:gd name="adj" fmla="val 1212"/>
            </a:avLst>
          </a:prstGeom>
          <a:solidFill>
            <a:schemeClr val="tx1"/>
          </a:solidFill>
          <a:ln/>
        </p:spPr>
        <p:txBody>
          <a:bodyPr wrap="square" lIns="127000" tIns="177800" rIns="177800" bIns="1270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post: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operationId: createGoalContribution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requestBody: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required: true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content: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application/json: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schema: { $ref: …/GoalContributionCreate }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responses: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"201"</a:t>
            </a:r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description: The contribution … }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"401"</a:t>
            </a:r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$ref: …/responses/Unauthorized }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"404"</a:t>
            </a:r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$ref: …/responses/NotFound }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"422"</a:t>
            </a:r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$ref: …/responses/ValidationFailed }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7498080" y="1417320"/>
            <a:ext cx="4114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Два файла: budget- и profile-service.openapi.yaml</a:t>
            </a:r>
            <a:endParaRPr lang="en-US" sz="20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У каждой операции — все коды ответа</a:t>
            </a:r>
            <a:endParaRPr lang="en-US" sz="20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Примеры — реальные ответы сервиса</a:t>
            </a:r>
            <a:endParaRPr lang="en-US" sz="20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Redocly lint: ошибок нет</a:t>
            </a:r>
            <a:endParaRPr lang="en-US" sz="20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Схема ошибки Problem — общая для двух сервисов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94360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POST /api/v1/goals/{id}/contributions; … — сокращено, 400 опущен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4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Все ошибки — в одном формате RFC 9457 problem+json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1206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Поле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Правило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name, creditor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1–100 символов после trim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суммы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&gt; 0, не больше 2 знаков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даты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YYYY-MM-DD; сроки — в будущем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priority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целое 1–10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email, password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формат email; 8–72 байта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4572000"/>
            <a:ext cx="2423160" cy="384048"/>
          </a:xfrm>
          <a:prstGeom prst="roundRect">
            <a:avLst>
              <a:gd name="adj" fmla="val 2381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201 — корректный</a:t>
            </a:r>
            <a:endParaRPr lang="en-US" sz="1600" dirty="0"/>
          </a:p>
        </p:txBody>
      </p:sp>
      <p:sp>
        <p:nvSpPr>
          <p:cNvPr id="6" name="Text 2"/>
          <p:cNvSpPr txBox="1"/>
          <p:nvPr/>
        </p:nvSpPr>
        <p:spPr>
          <a:xfrm>
            <a:off x="3246120" y="4572000"/>
            <a:ext cx="2423160" cy="384048"/>
          </a:xfrm>
          <a:prstGeom prst="roundRect">
            <a:avLst>
              <a:gd name="adj" fmla="val 2381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422 — правила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5120640"/>
            <a:ext cx="2423160" cy="384048"/>
          </a:xfrm>
          <a:prstGeom prst="roundRect">
            <a:avLst>
              <a:gd name="adj" fmla="val 2381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400 — не JSON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3246120" y="5120640"/>
            <a:ext cx="2423160" cy="384048"/>
          </a:xfrm>
          <a:prstGeom prst="roundRect">
            <a:avLst>
              <a:gd name="adj" fmla="val 2381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409 — дубликат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62356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Ошибки всех полей приходят разом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5943600" y="1325880"/>
            <a:ext cx="5669280" cy="4800600"/>
          </a:xfrm>
          <a:prstGeom prst="roundRect">
            <a:avLst>
              <a:gd name="adj" fmla="val 1143"/>
            </a:avLst>
          </a:prstGeom>
          <a:solidFill>
            <a:schemeClr val="tx1"/>
          </a:solidFill>
          <a:ln/>
        </p:spPr>
        <p:txBody>
          <a:bodyPr wrap="square" lIns="127000" tIns="177800" rIns="177800" bIns="1270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HTTP/1.1 422 Unprocessable Entity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application/problem+json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"code": "validation_failed",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"detail": "4 fields are invalid",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"errors": [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{"field": "name", "code": "blank"},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{"field": "priority",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"code": "out_of_range"}, …],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"instance": "/api/v1/goals",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"status": 422,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"Validation failed" }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4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Списки отдаются страницами: limit ≤ 100 и total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57784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2880360"/>
                <a:gridCol w="12801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Параметр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Значения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По умолч.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limit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1–100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offset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≥ 0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active | completed | archived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3749040"/>
            <a:ext cx="5577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Порядок стабильный: created_at, id</a:t>
            </a:r>
            <a:endParaRPr lang="en-US" sz="2000" dirty="0"/>
          </a:p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Только записи владельца токена</a:t>
            </a:r>
            <a:endParaRPr lang="en-US" sz="2000" dirty="0"/>
          </a:p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limit=500 → 422 out_of_range</a:t>
            </a:r>
            <a:endParaRPr lang="en-US" sz="2000" dirty="0"/>
          </a:p>
        </p:txBody>
      </p:sp>
      <p:sp>
        <p:nvSpPr>
          <p:cNvPr id="6" name="Text 2"/>
          <p:cNvSpPr txBox="1"/>
          <p:nvPr/>
        </p:nvSpPr>
        <p:spPr>
          <a:xfrm>
            <a:off x="6400800" y="1325880"/>
            <a:ext cx="5212080" cy="4800600"/>
          </a:xfrm>
          <a:prstGeom prst="roundRect">
            <a:avLst>
              <a:gd name="adj" fmla="val 1143"/>
            </a:avLst>
          </a:prstGeom>
          <a:solidFill>
            <a:schemeClr val="tx1"/>
          </a:solidFill>
          <a:ln/>
        </p:spPr>
        <p:txBody>
          <a:bodyPr wrap="square" lIns="127000" tIns="177800" rIns="177800" bIns="1270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/api/v1/goals?status=active&amp;limit=1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HTTP/1.1 200 OK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"items": [{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"name": "Laptop", "priority": 8,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"requiredMonthlyContribution": 100,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"status": "active",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"targetAmount": 1500, …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}],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"limit": 1, "offset": 0,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"total": 2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4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Пароль хранится как bcrypt-хеш, доступ — по JWT на 15 минут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325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accent1"/>
                </a:solidFill>
              </a:rPr>
              <a:t>Регистрация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37360"/>
            <a:ext cx="260604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/>
        </p:spPr>
        <p:txBody>
          <a:bodyPr wrap="square" lIns="50800" tIns="76200" rIns="76200" bIns="5080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POST /auth/register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email, password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154680" y="2171700"/>
            <a:ext cx="411480" cy="914"/>
          </a:xfrm>
          <a:prstGeom prst="line">
            <a:avLst/>
          </a:prstGeom>
          <a:noFill/>
          <a:ln w="25400">
            <a:solidFill>
              <a:srgbClr val="52606D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3566160" y="1737360"/>
            <a:ext cx="210312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/>
        </p:spPr>
        <p:txBody>
          <a:bodyPr wrap="square" lIns="50800" tIns="76200" rIns="76200" bIns="5080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валидация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8–72 байта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669280" y="2171700"/>
            <a:ext cx="411480" cy="914"/>
          </a:xfrm>
          <a:prstGeom prst="line">
            <a:avLst/>
          </a:prstGeom>
          <a:noFill/>
          <a:ln w="25400">
            <a:solidFill>
              <a:srgbClr val="52606D"/>
            </a:solidFill>
            <a:prstDash val="solid"/>
            <a:tailEnd type="triangle"/>
          </a:ln>
        </p:spPr>
      </p:sp>
      <p:sp>
        <p:nvSpPr>
          <p:cNvPr id="9" name="Text 6"/>
          <p:cNvSpPr txBox="1"/>
          <p:nvPr/>
        </p:nvSpPr>
        <p:spPr>
          <a:xfrm>
            <a:off x="6080760" y="1737360"/>
            <a:ext cx="228600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/>
        </p:spPr>
        <p:txBody>
          <a:bodyPr wrap="square" lIns="50800" tIns="76200" rIns="76200" bIns="5080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bcrypt, cost 12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(пул потоков)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8366760" y="2171700"/>
            <a:ext cx="411480" cy="914"/>
          </a:xfrm>
          <a:prstGeom prst="line">
            <a:avLst/>
          </a:prstGeom>
          <a:noFill/>
          <a:ln w="25400">
            <a:solidFill>
              <a:srgbClr val="52606D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8778240" y="1737360"/>
            <a:ext cx="2514600" cy="868680"/>
          </a:xfrm>
          <a:prstGeom prst="roundRect">
            <a:avLst>
              <a:gd name="adj" fmla="val 8421"/>
            </a:avLst>
          </a:prstGeom>
          <a:solidFill>
            <a:schemeClr val="accent2"/>
          </a:solidFill>
          <a:ln/>
        </p:spPr>
        <p:txBody>
          <a:bodyPr wrap="square" lIns="50800" tIns="76200" rIns="76200" bIns="5080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users.password_hash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$2b$12$…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2788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accent1"/>
                </a:solidFill>
              </a:rPr>
              <a:t>Вход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3200400"/>
            <a:ext cx="260604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/>
        </p:spPr>
        <p:txBody>
          <a:bodyPr wrap="square" lIns="50800" tIns="76200" rIns="76200" bIns="5080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POST /auth/login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3154680" y="3634740"/>
            <a:ext cx="411480" cy="914"/>
          </a:xfrm>
          <a:prstGeom prst="line">
            <a:avLst/>
          </a:prstGeom>
          <a:noFill/>
          <a:ln w="25400">
            <a:solidFill>
              <a:srgbClr val="52606D"/>
            </a:solidFill>
            <a:prstDash val="solid"/>
            <a:tailEnd type="triangle"/>
          </a:ln>
        </p:spPr>
      </p:sp>
      <p:sp>
        <p:nvSpPr>
          <p:cNvPr id="15" name="Text 12"/>
          <p:cNvSpPr txBox="1"/>
          <p:nvPr/>
        </p:nvSpPr>
        <p:spPr>
          <a:xfrm>
            <a:off x="3566160" y="3200400"/>
            <a:ext cx="210312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/>
        </p:spPr>
        <p:txBody>
          <a:bodyPr wrap="square" lIns="50800" tIns="76200" rIns="76200" bIns="5080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verify(hash)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иначе 401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5669280" y="3634740"/>
            <a:ext cx="411480" cy="914"/>
          </a:xfrm>
          <a:prstGeom prst="line">
            <a:avLst/>
          </a:prstGeom>
          <a:noFill/>
          <a:ln w="25400">
            <a:solidFill>
              <a:srgbClr val="52606D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6080760" y="3200400"/>
            <a:ext cx="228600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/>
        </p:spPr>
        <p:txBody>
          <a:bodyPr wrap="square" lIns="50800" tIns="76200" rIns="76200" bIns="5080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JWT HS256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подпись секретом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8366760" y="3634740"/>
            <a:ext cx="411480" cy="914"/>
          </a:xfrm>
          <a:prstGeom prst="line">
            <a:avLst/>
          </a:prstGeom>
          <a:noFill/>
          <a:ln w="25400">
            <a:solidFill>
              <a:srgbClr val="52606D"/>
            </a:solidFill>
            <a:prstDash val="solid"/>
            <a:tailEnd type="triangle"/>
          </a:ln>
        </p:spPr>
      </p:sp>
      <p:sp>
        <p:nvSpPr>
          <p:cNvPr id="19" name="Text 16"/>
          <p:cNvSpPr txBox="1"/>
          <p:nvPr/>
        </p:nvSpPr>
        <p:spPr>
          <a:xfrm>
            <a:off x="8778240" y="3200400"/>
            <a:ext cx="2514600" cy="868680"/>
          </a:xfrm>
          <a:prstGeom prst="roundRect">
            <a:avLst>
              <a:gd name="adj" fmla="val 8421"/>
            </a:avLst>
          </a:prstGeom>
          <a:solidFill>
            <a:schemeClr val="accent2"/>
          </a:solidFill>
          <a:ln/>
        </p:spPr>
        <p:txBody>
          <a:bodyPr wrap="square" lIns="50800" tIns="76200" rIns="76200" bIns="5080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Bearer → Budget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проверяет подпись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4343400"/>
            <a:ext cx="5394960" cy="1783080"/>
          </a:xfrm>
          <a:prstGeom prst="roundRect">
            <a:avLst>
              <a:gd name="adj" fmla="val 3077"/>
            </a:avLst>
          </a:prstGeom>
          <a:solidFill>
            <a:schemeClr val="tx1"/>
          </a:solidFill>
          <a:ln/>
        </p:spPr>
        <p:txBody>
          <a:bodyPr wrap="square" lIns="127000" tIns="177800" rIns="177800" bIns="1270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payload токена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"sub":  "&lt;user id&gt;",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"role": "user",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"iat":  1793209067,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"exp":  iat + 900 }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217920" y="4343400"/>
            <a:ext cx="53949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Неверный пароль и чужой email — один ответ 401</a:t>
            </a:r>
            <a:endParaRPr lang="en-US" sz="1800" dirty="0"/>
          </a:p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Секрет ≥ 32 байт, общий для двух сервисов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4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Права проверяются до контроллера, владение — в SQL</a:t>
            </a:r>
            <a:endParaRPr lang="en-US" sz="3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035040" cy="914400"/>
        </p:xfrm>
        <a:graphic>
          <a:graphicData uri="http://schemas.openxmlformats.org/drawingml/2006/table">
            <a:tbl>
              <a:tblPr/>
              <a:tblGrid>
                <a:gridCol w="3154680"/>
                <a:gridCol w="960120"/>
                <a:gridCol w="960120"/>
                <a:gridCol w="96012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Операция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Гость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user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admin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регистрация, вход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</a:rPr>
                        <a:t>да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</a:rPr>
                        <a:t>да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</a:rPr>
                        <a:t>да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GET /users/me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401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</a:rPr>
                        <a:t>да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</a:rPr>
                        <a:t>да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CRUD своих записей бюджета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401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</a:rPr>
                        <a:t>да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</a:rPr>
                        <a:t>да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чужая запись бюджета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401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404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404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GET /admin/users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401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403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</a:rPr>
                        <a:t>да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480060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admin не видит чужие финансы: это не его функция. Роль admin выдаёт только команда App make-admin</a:t>
            </a:r>
            <a:endParaRPr lang="en-US" sz="1600" dirty="0"/>
          </a:p>
        </p:txBody>
      </p:sp>
      <p:sp>
        <p:nvSpPr>
          <p:cNvPr id="6" name="Text 2"/>
          <p:cNvSpPr txBox="1"/>
          <p:nvPr/>
        </p:nvSpPr>
        <p:spPr>
          <a:xfrm>
            <a:off x="6858000" y="13258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chemeClr val="accent1"/>
                </a:solidFill>
              </a:rPr>
              <a:t>Где проверяется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6858000" y="1828800"/>
            <a:ext cx="4754880" cy="2377440"/>
          </a:xfrm>
          <a:prstGeom prst="roundRect">
            <a:avLst>
              <a:gd name="adj" fmla="val 2308"/>
            </a:avLst>
          </a:prstGeom>
          <a:solidFill>
            <a:schemeClr val="tx1"/>
          </a:solidFill>
          <a:ln/>
        </p:spPr>
        <p:txBody>
          <a:bodyPr wrap="square" lIns="127000" tIns="177800" rIns="177800" bIns="1270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configure.swift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authenticated = api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.grouped(AccessTokenAuthenticator())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authenticated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.grouped(RoleGuard(.admin))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.register(collection: Admin…)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6858000" y="438912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Middleware группы маршрутов: 401 / 403</a:t>
            </a:r>
            <a:endParaRPr lang="en-US" sz="180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SQL: </a:t>
            </a:r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user_id = $2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4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Пять угроз OWASP API Top 10: мера и тест на каждую</a:t>
            </a:r>
            <a:endParaRPr 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3063240"/>
                <a:gridCol w="3840480"/>
                <a:gridCol w="4160520"/>
              </a:tblGrid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Угроза (OWASP 2023)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Мера защиты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Как проверено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API1 BOLA: чужой id в URL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WHERE user_id из токена → 404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showHidesOtherUsersRecords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API2 Broken Authentication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bcrypt 12, JWT 15 мин, секрет ≥ 32 байт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expiredTokenIsUnauthorized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API3 Mass assignment роли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role и user_id из тела игнорируются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roleInRegistrationBodyIsIgnored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API4 Неограниченные ресурсы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limit ≤ 100; лимит тела запроса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listValidatesPaging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API5 BFLA: чужая функция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RoleGuard(.admin) → 403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userRoleIsForbiddenFromAdminRoutes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257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accent1"/>
                </a:solidFill>
              </a:rPr>
              <a:t>План: </a:t>
            </a:r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rate limit на /auth/login (API4), refresh-токены и отзыв (API2)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4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Сервис отвечает кодами из контракта: 201, 422, 403, 404</a:t>
            </a:r>
            <a:endParaRPr lang="en-US" sz="3000" dirty="0"/>
          </a:p>
        </p:txBody>
      </p:sp>
      <p:pic>
        <p:nvPicPr>
          <p:cNvPr id="4" name="Image 0" descr="Успех: цель создана с токеном из Prof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440680" cy="2376863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304290" y="1280160"/>
            <a:ext cx="4352544" cy="315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Успех: цель создана с токеном из Profile</a:t>
            </a:r>
            <a:endParaRPr lang="en-US" sz="1400" dirty="0"/>
          </a:p>
        </p:txBody>
      </p:sp>
      <p:pic>
        <p:nvPicPr>
          <p:cNvPr id="6" name="Image 1" descr="Ошибка валидации: все поля разом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280160"/>
            <a:ext cx="5440680" cy="2376863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927850" y="1280160"/>
            <a:ext cx="4352544" cy="315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Ошибка валидации: все поля разом</a:t>
            </a:r>
            <a:endParaRPr lang="en-US" sz="1400" dirty="0"/>
          </a:p>
        </p:txBody>
      </p:sp>
      <p:pic>
        <p:nvPicPr>
          <p:cNvPr id="8" name="Image 2" descr="Отказ в доступе: роль us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39903"/>
            <a:ext cx="5440680" cy="2376863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1304290" y="3839903"/>
            <a:ext cx="4352544" cy="315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Отказ в доступе: роль user</a:t>
            </a:r>
            <a:endParaRPr lang="en-US" sz="1400" dirty="0"/>
          </a:p>
        </p:txBody>
      </p:sp>
      <p:pic>
        <p:nvPicPr>
          <p:cNvPr id="10" name="Image 3" descr="Чужая цель: 404, как несуществующая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3839903"/>
            <a:ext cx="5440680" cy="2376863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6927850" y="3839903"/>
            <a:ext cx="4352544" cy="315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Чужая цель: 404, как несуществующая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4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ПР № 1–4 выполнены, дальше — расчёт остатка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32588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4400" b="1" dirty="0">
                <a:solidFill>
                  <a:schemeClr val="accent1"/>
                </a:solidFill>
              </a:rPr>
              <a:t>23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1031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операций API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2423160" y="132588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4400" b="1" dirty="0">
                <a:solidFill>
                  <a:schemeClr val="accent1"/>
                </a:solidFill>
              </a:rPr>
              <a:t>73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2423160" y="21031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автотестов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297680" y="132588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4400" b="1" dirty="0">
                <a:solidFill>
                  <a:schemeClr val="accent1"/>
                </a:solidFill>
              </a:rPr>
              <a:t>3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4297680" y="21031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миграции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2697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chemeClr val="accent1"/>
                </a:solidFill>
              </a:rPr>
              <a:t>Сделано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3154680"/>
            <a:ext cx="5486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ПР 1: два сервиса, /health, Docker Compose</a:t>
            </a:r>
            <a:endParaRPr lang="en-US" sz="180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ПР 2: CRUD, problem+json, пагинация</a:t>
            </a:r>
            <a:endParaRPr lang="en-US" sz="180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ПР 3: PostgreSQL, миграции, транзакция</a:t>
            </a:r>
            <a:endParaRPr lang="en-US" sz="180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ПР 4: регистрация, bcrypt, JWT, роли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6309360" y="1325880"/>
            <a:ext cx="5303520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  <p:txBody>
          <a:bodyPr wrap="square" lIns="101600" tIns="152400" rIns="152400" bIns="10160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accent1"/>
                </a:solidFill>
              </a:rPr>
              <a:t>До СРС № 2 (ПР № 5–7)</a:t>
            </a:r>
            <a:endParaRPr lang="en-US" sz="1800" dirty="0"/>
          </a:p>
          <a:p>
            <a:pPr algn="l"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доходы и расходы в Profile Service</a:t>
            </a:r>
            <a:endParaRPr lang="en-US" sz="1800" dirty="0"/>
          </a:p>
          <a:p>
            <a:pPr algn="l"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расчёт свободного остатка по целям</a:t>
            </a:r>
            <a:endParaRPr lang="en-US" sz="1800" dirty="0"/>
          </a:p>
          <a:p>
            <a:pPr algn="l"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Spending Service и карта трат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6309360" y="3840480"/>
            <a:ext cx="5303520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19050">
            <a:solidFill>
              <a:srgbClr val="E9A23B"/>
            </a:solidFill>
          </a:ln>
        </p:spPr>
        <p:txBody>
          <a:bodyPr wrap="square" lIns="101600" tIns="152400" rIns="152400" bIns="10160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Риски и ограничения</a:t>
            </a:r>
            <a:endParaRPr lang="en-US" sz="1800" dirty="0"/>
          </a:p>
          <a:p>
            <a:pPr algn="l"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Budget зависит от Profile синхронно</a:t>
            </a:r>
            <a:endParaRPr lang="en-US" sz="1800" dirty="0"/>
          </a:p>
          <a:p>
            <a:pPr algn="l"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нет rate limit на вход</a:t>
            </a:r>
            <a:endParaRPr lang="en-US" sz="1800" dirty="0"/>
          </a:p>
          <a:p>
            <a:pPr algn="l"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нет отзыва токена до exp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4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731520" y="54864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3400" b="1" dirty="0">
                <a:solidFill>
                  <a:schemeClr val="bg1"/>
                </a:solidFill>
              </a:rPr>
              <a:t>Проект — одно целое: от истории до теста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73736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23774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accent3"/>
                </a:solidFill>
              </a:rPr>
              <a:t>Архитектура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88036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chemeClr val="bg1"/>
                </a:solidFill>
              </a:rPr>
              <a:t>два сервиса, слои, один стек Swift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4343400" y="173736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4343400" y="23774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accent3"/>
                </a:solidFill>
              </a:rPr>
              <a:t>Данные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4343400" y="288036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chemeClr val="bg1"/>
                </a:solidFill>
              </a:rPr>
              <a:t>миграции, индексы под запросы, транзакция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7955280" y="173736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23774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accent3"/>
                </a:solidFill>
              </a:rPr>
              <a:t>API и защита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7955280" y="288036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chemeClr val="bg1"/>
                </a:solidFill>
              </a:rPr>
              <a:t>OpenAPI, problem+json, bcrypt, JWT, роли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42519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3200" b="1" dirty="0">
                <a:solidFill>
                  <a:schemeClr val="bg1"/>
                </a:solidFill>
              </a:rPr>
              <a:t>Спасибо! Готов ответить на вопросы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51663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u="sng" dirty="0">
                <a:solidFill>
                  <a:schemeClr val="accent3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github.com/albtugel/Netly</a:t>
            </a:r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bg2"/>
                </a:solidFill>
              </a:rPr>
              <a:t>  ·  ветка main, коммит 86b0ed7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4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tly">
  <a:themeElements>
    <a:clrScheme name="Netly">
      <a:dk1>
        <a:srgbClr val="1F2933"/>
      </a:dk1>
      <a:lt1>
        <a:srgbClr val="FFFFFF"/>
      </a:lt1>
      <a:dk2>
        <a:srgbClr val="0E4D45"/>
      </a:dk2>
      <a:lt2>
        <a:srgbClr val="E8F1EF"/>
      </a:lt2>
      <a:accent1>
        <a:srgbClr val="0E4D45"/>
      </a:accent1>
      <a:accent2>
        <a:srgbClr val="2A9D8F"/>
      </a:accent2>
      <a:accent3>
        <a:srgbClr val="E9A23B"/>
      </a:accent3>
      <a:accent4>
        <a:srgbClr val="52606D"/>
      </a:accent4>
      <a:accent5>
        <a:srgbClr val="9AA5B1"/>
      </a:accent5>
      <a:accent6>
        <a:srgbClr val="D9DEE3"/>
      </a:accent6>
      <a:hlink>
        <a:srgbClr val="2A9D8F"/>
      </a:hlink>
      <a:folHlink>
        <a:srgbClr val="52606D"/>
      </a:folHlink>
    </a:clrScheme>
    <a:fontScheme name="Netly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Netly — СРС № 1</dc:title>
  <dc:subject>PptxGenJS Presentation</dc:subject>
  <dc:creator>Тугельбаев Алибек</dc:creator>
  <cp:lastModifiedBy>Тугельбаев Алибек</cp:lastModifiedBy>
  <cp:revision>1</cp:revision>
  <dcterms:created xsi:type="dcterms:W3CDTF">2026-10-28T17:57:46Z</dcterms:created>
  <dcterms:modified xsi:type="dcterms:W3CDTF">2026-10-28T17:57:46Z</dcterms:modified>
</cp:coreProperties>
</file>